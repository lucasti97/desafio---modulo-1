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7CD810-977D-43D6-87E6-CAF2182A03C2}">
  <a:tblStyle styleId="{F27CD810-977D-43D6-87E6-CAF2182A03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406658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0523A"/>
                </a:solidFill>
                <a:latin typeface="Arial"/>
                <a:ea typeface="Arial"/>
                <a:cs typeface="Arial"/>
                <a:sym typeface="Arial"/>
              </a:rPr>
              <a:t>AIRBNB RIO DE JANEIRO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4638080"/>
            <a:ext cx="10883392" cy="7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Demanda ao longo do ano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5689600"/>
            <a:ext cx="108833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9D2DC"/>
                </a:solidFill>
                <a:latin typeface="Arial"/>
                <a:ea typeface="Arial"/>
                <a:cs typeface="Arial"/>
                <a:sym typeface="Arial"/>
              </a:rPr>
              <a:t>Base para planejar campanhas e ajustes de tarifa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Como medimos a demanda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15975" y="1595735"/>
            <a:ext cx="3380284" cy="1835051"/>
          </a:xfrm>
          <a:prstGeom prst="roundRect">
            <a:avLst>
              <a:gd fmla="val 5364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73150" y="1852910"/>
            <a:ext cx="295191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073150" y="2213570"/>
            <a:ext cx="2951912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48.729 anúncios, 160 bairros e 1,39 milhão de avaliações (2010 a jun/2026).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405809" y="1595735"/>
            <a:ext cx="3380383" cy="1835051"/>
          </a:xfrm>
          <a:prstGeom prst="roundRect">
            <a:avLst>
              <a:gd fmla="val 5364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662984" y="1852910"/>
            <a:ext cx="295201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662984" y="2213570"/>
            <a:ext cx="2952014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Tabela fato de avaliações ligada às dimensões de anúncios e bairros, carregada com scripts SQL.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995741" y="1595735"/>
            <a:ext cx="3380284" cy="1835051"/>
          </a:xfrm>
          <a:prstGeom prst="roundRect">
            <a:avLst>
              <a:gd fmla="val 5364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52916" y="1852910"/>
            <a:ext cx="295191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52916" y="2213570"/>
            <a:ext cx="2951912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Avaliação como indicador de demanda. Índice sazonal: cada mês contra a média dos 12 meses ao redor.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Avaliação não é reserva: a data vem depois da estadia.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DF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Retângulo = entidade · losango = relacionamento · elipse = atributo (sublinhado = chave) · (mín,máx) = cardinalidade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Modelo conceitual do Data Warehouse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o conceitual em notação de Chen (brModelo): neighbourhoods contém listings, listings recebe fato_reviews e neighbourhoods agrupa fato_reviews" id="42" name="Google Shape;42;p5"/>
          <p:cNvPicPr preferRelativeResize="0"/>
          <p:nvPr/>
        </p:nvPicPr>
        <p:blipFill rotWithShape="1">
          <a:blip r:embed="rId3">
            <a:alphaModFix/>
          </a:blip>
          <a:srcRect b="0" l="-20" r="-20" t="0"/>
          <a:stretch/>
        </p:blipFill>
        <p:spPr>
          <a:xfrm>
            <a:off x="812800" y="1543050"/>
            <a:ext cx="10566400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Modelo lógico do Data Warehouse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o lógico: neighbourhoods 1 para N listings, listings 1 para N fato_reviews e neighbourhoods 1 para N fato_reviews, com colunas, tipos, PK e FK" id="49" name="Google Shape;49;p6"/>
          <p:cNvPicPr preferRelativeResize="0"/>
          <p:nvPr/>
        </p:nvPicPr>
        <p:blipFill rotWithShape="1">
          <a:blip r:embed="rId3">
            <a:alphaModFix/>
          </a:blip>
          <a:srcRect b="0" l="-23" r="-23" t="0"/>
          <a:stretch/>
        </p:blipFill>
        <p:spPr>
          <a:xfrm>
            <a:off x="812800" y="1541760"/>
            <a:ext cx="10566400" cy="42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PK = chave primária · FK = chave estrangeira · 1 = um · N = muitos. A fato não tem PK porque há avaliações repetidas.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Compara cada mês com a média dos 12 meses ao redor. Índice 1,00 = mês normal. As perguntas 1 e 2 usam esta 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Consulta de apoio: índice sazonal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12800" y="1543050"/>
            <a:ext cx="10566400" cy="4305300"/>
          </a:xfrm>
          <a:prstGeom prst="roundRect">
            <a:avLst>
              <a:gd fmla="val 2360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1066800" y="1746250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VIEW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dw.vw_indice_sazonal_mensal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1066800" y="1944291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mensal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066800" y="2142331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mes, ano * 100 + 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ano_mes, SUM(qtd_avaliacao)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qtd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066800" y="2340372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dw.fato_reviews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1066800" y="2538413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 * 100 + 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202201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202606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066800" y="2736453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066800" y="2934494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066800" y="3132534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janela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066800" y="3330575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mes, ano_mes, qtd,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066800" y="3528616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COUNT(*)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ano_mes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ROWS BETWEEN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PRECEDING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FOLLOWING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n_meses,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066800" y="3726656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( AVG(qtd)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ano_mes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ROWS BETWEEN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PRECEDING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FOLLOWING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066800" y="3924697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+ AVG(qtd)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ano_mes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ROWS BETWEEN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PRECEDING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FOLLOWING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 ) / 2.0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media_movel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066800" y="4122738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066800" y="4320778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066800" y="4518819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mes, ano_mes, qtd,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066800" y="4716859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ROUND(media_movel, 1)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media_movel,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066800" y="4914900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ROUND(qtd / media_movel,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indice_sazonal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066800" y="5112941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janela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66800" y="5310981"/>
            <a:ext cx="1036015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n_meses = 13;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1. Meses com mais avaliações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812800" y="1541760"/>
            <a:ext cx="6731000" cy="1841401"/>
          </a:xfrm>
          <a:prstGeom prst="roundRect">
            <a:avLst>
              <a:gd fmla="val 5518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ROUND(AVG(indice_sazonal),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indice_medio,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MIN(indice_sazonal)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menor_indice,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MAX(indice_sazonal)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maior_indice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dw.vw_indice_sazonal_mensal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066800" y="273516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indice_medio DESC;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7750175" y="1544935"/>
            <a:ext cx="3625850" cy="1835051"/>
          </a:xfrm>
          <a:prstGeom prst="roundRect">
            <a:avLst>
              <a:gd fmla="val 5364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007350" y="2162770"/>
            <a:ext cx="3204845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Janeiro lidera (índice 1,35), depois setembro, fevereiro, novembro e março. Os mais fracos: dezembro, junho e agosto.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2. Existe alta temporada?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812800" y="1541760"/>
            <a:ext cx="6731000" cy="1990725"/>
          </a:xfrm>
          <a:prstGeom prst="roundRect">
            <a:avLst>
              <a:gd fmla="val 5104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ROUND(AVG(indice_sazonal),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indice_medio,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AVG(indice_sazonal) &gt;= 1.10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'ALTA'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AVG(indice_sazonal) &lt;= 0.90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'BAIXA'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'MEDIA'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temporada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066800" y="273516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dw.vw_indice_sazonal_mensal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066800" y="313124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750175" y="1544935"/>
            <a:ext cx="3625850" cy="1984375"/>
          </a:xfrm>
          <a:prstGeom prst="roundRect">
            <a:avLst>
              <a:gd fmla="val 4960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007350" y="2162770"/>
            <a:ext cx="3204845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Sim: janeiro e fevereiro, com setembro e novembro em alguns anos. Baixa: junho a agosto e dezembro.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Janeiro e fevereiro são a alta temporada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998855" y="23852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1,35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901700" y="2697559"/>
            <a:ext cx="609600" cy="2832100"/>
          </a:xfrm>
          <a:prstGeom prst="roundRect">
            <a:avLst>
              <a:gd fmla="val 8333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1034455" y="5593159"/>
            <a:ext cx="3440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1887855" y="28678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790700" y="3180159"/>
            <a:ext cx="609600" cy="2349500"/>
          </a:xfrm>
          <a:prstGeom prst="roundRect">
            <a:avLst>
              <a:gd fmla="val 8333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1917621" y="5593159"/>
            <a:ext cx="3557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Fev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2776855" y="29313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1,09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2679700" y="3243659"/>
            <a:ext cx="609600" cy="2286000"/>
          </a:xfrm>
          <a:prstGeom prst="roundRect">
            <a:avLst>
              <a:gd fmla="val 8333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2800677" y="5593159"/>
            <a:ext cx="367546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3665855" y="32234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568700" y="3535759"/>
            <a:ext cx="609600" cy="1993900"/>
          </a:xfrm>
          <a:prstGeom prst="roundRect">
            <a:avLst>
              <a:gd fmla="val 8333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3707418" y="5593159"/>
            <a:ext cx="332065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Abr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4554855" y="32234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4457700" y="3535759"/>
            <a:ext cx="609600" cy="1993900"/>
          </a:xfrm>
          <a:prstGeom prst="roundRect">
            <a:avLst>
              <a:gd fmla="val 8333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4590574" y="5593159"/>
            <a:ext cx="34385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443855" y="352186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346700" y="3834209"/>
            <a:ext cx="609600" cy="1695450"/>
          </a:xfrm>
          <a:prstGeom prst="roundRect">
            <a:avLst>
              <a:gd fmla="val 8333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5479455" y="5593159"/>
            <a:ext cx="3440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332855" y="345836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235700" y="3770709"/>
            <a:ext cx="609600" cy="1758950"/>
          </a:xfrm>
          <a:prstGeom prst="roundRect">
            <a:avLst>
              <a:gd fmla="val 8333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6401395" y="5593159"/>
            <a:ext cx="27811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7221855" y="352186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124700" y="3834209"/>
            <a:ext cx="609600" cy="1695450"/>
          </a:xfrm>
          <a:prstGeom prst="roundRect">
            <a:avLst>
              <a:gd fmla="val 8333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7239605" y="5593159"/>
            <a:ext cx="3796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8110855" y="278526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8013700" y="3097609"/>
            <a:ext cx="609600" cy="2432050"/>
          </a:xfrm>
          <a:prstGeom prst="roundRect">
            <a:avLst>
              <a:gd fmla="val 8333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8158361" y="5593159"/>
            <a:ext cx="32027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8999855" y="32234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8902700" y="3535759"/>
            <a:ext cx="609600" cy="1993900"/>
          </a:xfrm>
          <a:prstGeom prst="roundRect">
            <a:avLst>
              <a:gd fmla="val 8333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9035465" y="5593159"/>
            <a:ext cx="34397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9894699" y="2893219"/>
            <a:ext cx="40350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9791700" y="3205559"/>
            <a:ext cx="609600" cy="2324100"/>
          </a:xfrm>
          <a:prstGeom prst="roundRect">
            <a:avLst>
              <a:gd fmla="val 8333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9906724" y="5593159"/>
            <a:ext cx="37945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0777855" y="3540919"/>
            <a:ext cx="41529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0680700" y="3853259"/>
            <a:ext cx="609600" cy="1676400"/>
          </a:xfrm>
          <a:prstGeom prst="roundRect">
            <a:avLst>
              <a:gd fmla="val 8333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10795724" y="5593159"/>
            <a:ext cx="37945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Coral: alta (≥ 1,10) · Verde: baixa (≤ 0,90) · Cinza: média. Dezembro só parece fraco: as avaliações do Réveillon entram em janeiro.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3. Bairros por estação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812800" y="1541760"/>
            <a:ext cx="6731000" cy="4169172"/>
          </a:xfrm>
          <a:prstGeom prst="roundRect">
            <a:avLst>
              <a:gd fmla="val 2437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base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neighbourhood, qtd_avaliacao,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(12, 1, 2)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'verao'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(3, 4, 5)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'outono'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(6, 7, 8)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'inverno'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1066800" y="273516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'primavera'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estacao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dw.fato_reviews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066800" y="313124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2022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066800" y="332928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066800" y="352732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ranking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1066800" y="372536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estacao, neighbourhood, SUM(qtd_avaliacao)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qtd,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066800" y="3923407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ROW_NUMBER()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PARTITION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estacao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066800" y="4121448"/>
            <a:ext cx="647700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SUM(qtd_avaliacao) DESC)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posicao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066800" y="4319488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1066800" y="4517529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estacao, neighbourhood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066800" y="471557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066800" y="491361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ranking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066800" y="511165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posicao &lt;=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066800" y="530969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estacao, posicao;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7750175" y="1544935"/>
            <a:ext cx="3625850" cy="4162822"/>
          </a:xfrm>
          <a:prstGeom prst="roundRect">
            <a:avLst>
              <a:gd fmla="val 2715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8007350" y="2162770"/>
            <a:ext cx="3204845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Ranking igual nas 4 estações: Copacabana, Ipanema, Barra da Tijuca, Centro e Leblon (anos de 2022 a 2025).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Copacabana e Ipanema lideram em todas as estações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815975" y="1595735"/>
            <a:ext cx="1944291" cy="2376091"/>
          </a:xfrm>
          <a:prstGeom prst="roundRect">
            <a:avLst>
              <a:gd fmla="val 5062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1073150" y="1852910"/>
            <a:ext cx="148074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38%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073150" y="2614910"/>
            <a:ext cx="1480741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Copacabana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073150" y="2975570"/>
            <a:ext cx="1480741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das avaliações da estação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2969816" y="1595735"/>
            <a:ext cx="1944390" cy="2376091"/>
          </a:xfrm>
          <a:prstGeom prst="roundRect">
            <a:avLst>
              <a:gd fmla="val 5062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3226991" y="1852910"/>
            <a:ext cx="1480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12%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226991" y="2614910"/>
            <a:ext cx="148084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Ipanema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3226991" y="2975570"/>
            <a:ext cx="1480840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das avaliações da estação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123755" y="1595735"/>
            <a:ext cx="1944390" cy="2376091"/>
          </a:xfrm>
          <a:prstGeom prst="roundRect">
            <a:avLst>
              <a:gd fmla="val 5062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5380930" y="1852910"/>
            <a:ext cx="1480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7%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380930" y="2614910"/>
            <a:ext cx="1480840" cy="54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Barra da Tijuca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380930" y="3234630"/>
            <a:ext cx="1480840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das avaliações da estação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7277695" y="1595735"/>
            <a:ext cx="1944390" cy="2376091"/>
          </a:xfrm>
          <a:prstGeom prst="roundRect">
            <a:avLst>
              <a:gd fmla="val 5062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7534870" y="1852910"/>
            <a:ext cx="1480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6%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534870" y="2614910"/>
            <a:ext cx="148084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534870" y="2975570"/>
            <a:ext cx="1480840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das avaliações da estação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9431635" y="1595735"/>
            <a:ext cx="1944390" cy="2376091"/>
          </a:xfrm>
          <a:prstGeom prst="roundRect">
            <a:avLst>
              <a:gd fmla="val 5062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9688810" y="1852910"/>
            <a:ext cx="1480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9688810" y="2614910"/>
            <a:ext cx="148084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Leblon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9688810" y="2975570"/>
            <a:ext cx="1480840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das avaliações da estação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Ranking igual nas 4 estações (2022 a 2025). A primavera é a estação de maior volume.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4. Evolução do volume de reviews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12800" y="1541760"/>
            <a:ext cx="6731000" cy="2584847"/>
          </a:xfrm>
          <a:prstGeom prst="roundRect">
            <a:avLst>
              <a:gd fmla="val 3931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anual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SUM(qtd_avaliacao)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total_ano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dw.fato_reviews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066800" y="273516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ano, total_ano,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ROUND(100.0 * (total_ano - LAG(total_ano)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066800" y="3131245"/>
            <a:ext cx="6409690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/ NULLIF(LAG(total_ano)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ano), 0), 1)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var_pct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066800" y="352732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1066800" y="372536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ano;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7750175" y="1544935"/>
            <a:ext cx="3625850" cy="2578497"/>
          </a:xfrm>
          <a:prstGeom prst="roundRect">
            <a:avLst>
              <a:gd fmla="val 3817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8007350" y="2162770"/>
            <a:ext cx="3204845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De 107.769 avaliações em 2022 para 384.796 em 2025. Única queda: 2020 (-29%).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812800" y="812800"/>
            <a:ext cx="11379200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O volume de avaliações cresceu 3,6 vezes em três anos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815975" y="1595735"/>
            <a:ext cx="3380284" cy="2117030"/>
          </a:xfrm>
          <a:prstGeom prst="roundRect">
            <a:avLst>
              <a:gd fmla="val 464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1073150" y="1852910"/>
            <a:ext cx="2951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108 mil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73150" y="2614910"/>
            <a:ext cx="295191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1073150" y="2975570"/>
            <a:ext cx="2951912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avaliações no ano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4405809" y="1595735"/>
            <a:ext cx="3380383" cy="2117030"/>
          </a:xfrm>
          <a:prstGeom prst="roundRect">
            <a:avLst>
              <a:gd fmla="val 464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662984" y="1852910"/>
            <a:ext cx="29520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385 mil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662984" y="2614910"/>
            <a:ext cx="295201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662984" y="2975570"/>
            <a:ext cx="2952014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avaliações no ano (+62% sobre 2024)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7995741" y="1595735"/>
            <a:ext cx="3380284" cy="2117030"/>
          </a:xfrm>
          <a:prstGeom prst="roundRect">
            <a:avLst>
              <a:gd fmla="val 464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8252916" y="1852910"/>
            <a:ext cx="2951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23A"/>
              </a:buClr>
              <a:buSzPts val="5200"/>
              <a:buFont typeface="Georgia"/>
              <a:buNone/>
            </a:pPr>
            <a:r>
              <a:rPr b="0" i="0" lang="en-US" sz="5200" u="none" cap="none" strike="noStrike">
                <a:solidFill>
                  <a:srgbClr val="E0523A"/>
                </a:solidFill>
                <a:latin typeface="Georgia"/>
                <a:ea typeface="Georgia"/>
                <a:cs typeface="Georgia"/>
                <a:sym typeface="Georgia"/>
              </a:rPr>
              <a:t>262 mil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252916" y="2614910"/>
            <a:ext cx="295191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Jan a jun de 2026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8252916" y="2975570"/>
            <a:ext cx="295191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avaliações, +36% sobre o mesmo período de 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2DC"/>
                </a:solidFill>
                <a:latin typeface="Arial"/>
                <a:ea typeface="Arial"/>
                <a:cs typeface="Arial"/>
                <a:sym typeface="Arial"/>
              </a:rPr>
              <a:t>O crescimento mistura mais demanda com mais anúncios e mais gente avaliando.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5. Quando ajustar a tarifa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812800" y="1541760"/>
            <a:ext cx="6731000" cy="2188766"/>
          </a:xfrm>
          <a:prstGeom prst="roundRect">
            <a:avLst>
              <a:gd fmla="val 4642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ROUND(AVG(indice_sazonal),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indice_medio,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 = 12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'ATENCAO: checar reservas'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AVG(indice_sazonal) &gt;= 1.10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'ALTA: subir tarifa'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AVG(indice_sazonal) &lt;= 0.90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'BAIXA: promocao'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066800" y="273516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FD1C7"/>
                </a:solidFill>
                <a:latin typeface="Courier New"/>
                <a:ea typeface="Courier New"/>
                <a:cs typeface="Courier New"/>
                <a:sym typeface="Courier New"/>
              </a:rPr>
              <a:t>'MEDIA: manter'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acao_sugerida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dw.vw_indice_sazonal_mensal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066800" y="313124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1066800" y="332928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mes;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7750175" y="1544935"/>
            <a:ext cx="3625850" cy="2182416"/>
          </a:xfrm>
          <a:prstGeom prst="roundRect">
            <a:avLst>
              <a:gd fmla="val 4510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8007350" y="2162770"/>
            <a:ext cx="3204845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Alta (jan, fev, set e nov): subir tarifa e lançar a campanha 2 a 3 meses antes. Baixa (jun a ago): promoção. Dezembro: checar reservas.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6. Onde testar reajuste de preço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812800" y="1541760"/>
            <a:ext cx="6731000" cy="3575050"/>
          </a:xfrm>
          <a:prstGeom prst="roundRect">
            <a:avLst>
              <a:gd fmla="val 2842" name="adj"/>
            </a:avLst>
          </a:prstGeom>
          <a:solidFill>
            <a:srgbClr val="0F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1066800" y="174496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1066800" y="194300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neighbourhood, COUNT(*)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1066800" y="2141041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AVG(availability_365)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disp,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1066800" y="2339082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SUM(number_of_reviews_ltm) * 1.0 / COUNT(*)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rev,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1066800" y="2537123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PERCENTILE_CONT(0.5)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WITHIN GROUP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price)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preco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1066800" y="2735163"/>
            <a:ext cx="647700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dw.listings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neighbourhood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COUNT(*) &gt;= 500),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066800" y="2933204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c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066800" y="313124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SUM(number_of_reviews_ltm) * 1.0 / COUNT(*)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rev,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066800" y="3329285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  PERCENTILE_CONT(0.5)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WITHIN GROUP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price)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preco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066800" y="352732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dw.listings)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1066800" y="3725366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neighbourhood,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066800" y="3923407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ROUND(b.rev / c.rev,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indice_demanda,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066800" y="4121448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ROUND((b.preco / c.preco)::numeric, 2)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indice_preco,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066800" y="4319488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  ROUND(b.disp, 0)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disp_media_365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1066800" y="4517529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CROSS JOIN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066800" y="4715570"/>
            <a:ext cx="64096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A58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0A58F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0" i="0" lang="en-US" sz="1200" u="none" cap="none" strike="noStrike">
                <a:solidFill>
                  <a:srgbClr val="E8EDF2"/>
                </a:solidFill>
                <a:latin typeface="Courier New"/>
                <a:ea typeface="Courier New"/>
                <a:cs typeface="Courier New"/>
                <a:sym typeface="Courier New"/>
              </a:rPr>
              <a:t> b.n DESC;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7750175" y="1544935"/>
            <a:ext cx="3625850" cy="3568700"/>
          </a:xfrm>
          <a:prstGeom prst="roundRect">
            <a:avLst>
              <a:gd fmla="val 2758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8007350" y="1802110"/>
            <a:ext cx="320484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8007350" y="2162770"/>
            <a:ext cx="3204845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Testar reajuste: demanda ≥ 1,10 e preço ≤ 1,00 (Centro, Camorim, Copacabana). Reforçar promoção: demanda ≤ 0,80.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Versão enxuta: a consulta completa, com a coluna de sugestão, está no arquivo 06_demanda_preco_disponibilidade.sql.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14202E"/>
                </a:solidFill>
                <a:latin typeface="Georgia"/>
                <a:ea typeface="Georgia"/>
                <a:cs typeface="Georgia"/>
                <a:sym typeface="Georgia"/>
              </a:rPr>
              <a:t>Onde testar reajuste de preço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17"/>
          <p:cNvGraphicFramePr/>
          <p:nvPr/>
        </p:nvGraphicFramePr>
        <p:xfrm>
          <a:off x="825500" y="1605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{F27CD810-977D-43D6-87E6-CAF2182A03C2}</a:tableStyleId>
              </a:tblPr>
              <a:tblGrid>
                <a:gridCol w="2638425"/>
                <a:gridCol w="2638425"/>
                <a:gridCol w="2638425"/>
                <a:gridCol w="2638425"/>
              </a:tblGrid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Bairro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Demanda vs. cidade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Preço vs. cidade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Sugestão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DFD6"/>
                    </a:solidFill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Centro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0,61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Testar reajuste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2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Camorim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0,69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Testar reajuste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Copacabana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Testar reajuste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Ipanema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1,27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Manter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Leblon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1,27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1,76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Manter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Recreio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0,61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Reforçar promoção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Jacarepaguá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2E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0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Reforçar promoção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7000" marL="127000">
                    <a:lnL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0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Índice 1,0 = média da cidade. O preço é de uma única data de coleta: testar em parte dos anúncios, não aplicar em tudo.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Plano para as campanhas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15975" y="1544935"/>
            <a:ext cx="6379170" cy="4157861"/>
          </a:xfrm>
          <a:prstGeom prst="roundRect">
            <a:avLst>
              <a:gd fmla="val 2367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1022350" y="1751310"/>
            <a:ext cx="614541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Índice sazonal por mês (1,0 = normal)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1092895" y="20815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1,35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131193" y="2345630"/>
            <a:ext cx="279400" cy="2571750"/>
          </a:xfrm>
          <a:prstGeom prst="roundRect">
            <a:avLst>
              <a:gd fmla="val 13636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122660" y="4968180"/>
            <a:ext cx="2965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590179" y="251966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1628477" y="2783780"/>
            <a:ext cx="279400" cy="2133600"/>
          </a:xfrm>
          <a:prstGeom prst="roundRect">
            <a:avLst>
              <a:gd fmla="val 13636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1615668" y="4968180"/>
            <a:ext cx="30491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Fev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2087364" y="25768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2125663" y="2840930"/>
            <a:ext cx="279400" cy="2076450"/>
          </a:xfrm>
          <a:prstGeom prst="roundRect">
            <a:avLst>
              <a:gd fmla="val 13636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2107843" y="4968180"/>
            <a:ext cx="31503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2584648" y="28435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2622947" y="3107630"/>
            <a:ext cx="279400" cy="1809750"/>
          </a:xfrm>
          <a:prstGeom prst="roundRect">
            <a:avLst>
              <a:gd fmla="val 13636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2618581" y="4968180"/>
            <a:ext cx="28803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3081834" y="28435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120132" y="3107630"/>
            <a:ext cx="279400" cy="1809750"/>
          </a:xfrm>
          <a:prstGeom prst="roundRect">
            <a:avLst>
              <a:gd fmla="val 13636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3111698" y="4968180"/>
            <a:ext cx="2963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3579019" y="31102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3617317" y="3374330"/>
            <a:ext cx="279400" cy="1543050"/>
          </a:xfrm>
          <a:prstGeom prst="roundRect">
            <a:avLst>
              <a:gd fmla="val 13636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3608784" y="4968180"/>
            <a:ext cx="2965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4076204" y="305306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4114502" y="3317180"/>
            <a:ext cx="279400" cy="1600200"/>
          </a:xfrm>
          <a:prstGeom prst="roundRect">
            <a:avLst>
              <a:gd fmla="val 13636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4131370" y="4968180"/>
            <a:ext cx="2456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Jul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4573389" y="31102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4611688" y="3374330"/>
            <a:ext cx="279400" cy="1543050"/>
          </a:xfrm>
          <a:prstGeom prst="roundRect">
            <a:avLst>
              <a:gd fmla="val 13636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4588738" y="4968180"/>
            <a:ext cx="32539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5070574" y="244346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5108873" y="2707580"/>
            <a:ext cx="279400" cy="2209800"/>
          </a:xfrm>
          <a:prstGeom prst="roundRect">
            <a:avLst>
              <a:gd fmla="val 13636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5108773" y="4968180"/>
            <a:ext cx="27959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567759" y="284351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5606058" y="3107630"/>
            <a:ext cx="279400" cy="1809750"/>
          </a:xfrm>
          <a:prstGeom prst="roundRect">
            <a:avLst>
              <a:gd fmla="val 13636" name="adj"/>
            </a:avLst>
          </a:prstGeom>
          <a:solidFill>
            <a:srgbClr val="B9B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5597525" y="4968180"/>
            <a:ext cx="2964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6070054" y="2538710"/>
            <a:ext cx="34587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1,11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6103243" y="2802830"/>
            <a:ext cx="279400" cy="2114550"/>
          </a:xfrm>
          <a:prstGeom prst="roundRect">
            <a:avLst>
              <a:gd fmla="val 13636" name="adj"/>
            </a:avLst>
          </a:prstGeom>
          <a:solidFill>
            <a:srgbClr val="E0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6080304" y="4968180"/>
            <a:ext cx="32527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562130" y="3129260"/>
            <a:ext cx="3559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0,80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600428" y="3393380"/>
            <a:ext cx="279400" cy="1524000"/>
          </a:xfrm>
          <a:prstGeom prst="roundRect">
            <a:avLst>
              <a:gd fmla="val 13636" name="adj"/>
            </a:avLst>
          </a:prstGeom>
          <a:solidFill>
            <a:srgbClr val="1C7C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6577489" y="4968180"/>
            <a:ext cx="32527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1022350" y="5283101"/>
            <a:ext cx="614541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Coral: alta · Verde: baixa · Cinza: média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7404695" y="1544935"/>
            <a:ext cx="3971330" cy="1280120"/>
          </a:xfrm>
          <a:prstGeom prst="roundRect">
            <a:avLst>
              <a:gd fmla="val 768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7611070" y="1751310"/>
            <a:ext cx="366533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Jan, fev, set e nov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7611070" y="2071291"/>
            <a:ext cx="3665337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Subir tarifa e lançar a campanha 2 a 3 meses 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7404695" y="2983805"/>
            <a:ext cx="3971330" cy="1280120"/>
          </a:xfrm>
          <a:prstGeom prst="roundRect">
            <a:avLst>
              <a:gd fmla="val 768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7611070" y="3190180"/>
            <a:ext cx="366533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Jun a ago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7611070" y="3510161"/>
            <a:ext cx="3665337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Promoção e estadia longa. Em dezembro, checar reservas antes de dar desconto.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7404695" y="4422676"/>
            <a:ext cx="3971330" cy="1280120"/>
          </a:xfrm>
          <a:prstGeom prst="roundRect">
            <a:avLst>
              <a:gd fmla="val 7689" name="adj"/>
            </a:avLst>
          </a:prstGeom>
          <a:solidFill>
            <a:srgbClr val="FFFDF8"/>
          </a:solidFill>
          <a:ln cap="flat" cmpd="sng" w="9525">
            <a:solidFill>
              <a:srgbClr val="E2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7611070" y="4629051"/>
            <a:ext cx="3665337" cy="24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2E"/>
              </a:buClr>
              <a:buSzPts val="1435"/>
              <a:buFont typeface="Arial"/>
              <a:buNone/>
            </a:pPr>
            <a:r>
              <a:rPr b="1" i="0" lang="en-US" sz="1435" u="none" cap="none" strike="noStrike">
                <a:solidFill>
                  <a:srgbClr val="14202E"/>
                </a:solidFill>
                <a:latin typeface="Arial"/>
                <a:ea typeface="Arial"/>
                <a:cs typeface="Arial"/>
                <a:sym typeface="Arial"/>
              </a:rPr>
              <a:t>Bairros</a:t>
            </a:r>
            <a:endParaRPr b="0" i="0" sz="14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7611070" y="4922441"/>
            <a:ext cx="3665337" cy="59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7"/>
              <a:buFont typeface="Arial"/>
              <a:buNone/>
            </a:pPr>
            <a:r>
              <a:rPr b="0" i="0" lang="en-US" sz="1207" u="none" cap="none" strike="noStrike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Testar reajuste em Centro, Camorim e Copacabana. Promoção em Recreio e Jacarepaguá.</a:t>
            </a:r>
            <a:endParaRPr b="0" i="0" sz="12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2DC"/>
                </a:solidFill>
                <a:latin typeface="Arial"/>
                <a:ea typeface="Arial"/>
                <a:cs typeface="Arial"/>
                <a:sym typeface="Arial"/>
              </a:rPr>
              <a:t>Validar com teste controlado antes de aplicar em todos os anúncios.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